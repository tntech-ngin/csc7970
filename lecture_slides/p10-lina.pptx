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5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46141-36CD-4627-81F5-0F7DC25374ED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30757-958A-419A-A317-AE7FDBCBE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6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DBC1237-443A-4DCE-80F8-6F598C89A2B8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65789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55F-BA38-40DC-8841-2BDB5AB42B56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4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2EC595-7078-429D-B128-1B52C86A745E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7265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ACEDF-C538-4072-B929-95D8909CA748}" type="datetime1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1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95819-9A26-4C1D-946B-D6B51FB6994E}" type="datetime1">
              <a:rPr lang="en-US" smtClean="0"/>
              <a:t>3/10/2020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8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BE3D-C6F4-4CA6-9ABA-AF63933F31F9}" type="datetime1">
              <a:rPr lang="en-US" smtClean="0"/>
              <a:t>3/10/2020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0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C24A7-153E-4B61-B438-97E552DD041D}" type="datetime1">
              <a:rPr lang="en-US" smtClean="0"/>
              <a:t>3/10/2020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4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E3D6FB-D8E6-4B03-B7C3-6ADEB1D2F3B0}" type="datetime1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003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3F4125-9091-4431-B391-28E9C3CB185A}" type="datetime1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141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5D00-00EC-4666-BFEE-431717BF37A8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3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FBA6C-FD82-4090-BBB9-FFB25F3D1F44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2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FFE9249-ECBD-458D-8183-2E39F88C3818}" type="datetime1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B89B4DD-6EE3-456E-86A2-4A5B5A2EAE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79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stion-board-chalk-school-1262378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F45E-15E9-4BDA-8CAF-B48E4129A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414463"/>
            <a:ext cx="8361229" cy="2771775"/>
          </a:xfrm>
        </p:spPr>
        <p:txBody>
          <a:bodyPr>
            <a:noAutofit/>
          </a:bodyPr>
          <a:lstStyle/>
          <a:p>
            <a:r>
              <a:rPr lang="en-US" sz="3200" b="1"/>
              <a:t>Open Connect Everywhere: A Glimpse at</a:t>
            </a:r>
            <a:br>
              <a:rPr lang="en-US" sz="3200" b="1"/>
            </a:br>
            <a:r>
              <a:rPr lang="en-US" sz="3200" b="1"/>
              <a:t>the Internet Ecosystem through the Lens of the Netflix CDN</a:t>
            </a:r>
            <a:r>
              <a:rPr lang="en-US" sz="3200"/>
              <a:t> </a:t>
            </a:r>
            <a:br>
              <a:rPr lang="en-US" sz="320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01498-B532-4B44-B072-24A80AA2D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Presented by-</a:t>
            </a:r>
          </a:p>
          <a:p>
            <a:r>
              <a:rPr lang="en-US"/>
              <a:t>Debolina Halder Lina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52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ADE5C-AA5C-4C56-881D-41B325D9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3250C-09CB-46B4-9CE1-DFC4F1BD2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 dirty="0"/>
              <a:t>Internet today</a:t>
            </a:r>
          </a:p>
          <a:p>
            <a:r>
              <a:rPr lang="en-US" dirty="0"/>
              <a:t>IXP and ISP</a:t>
            </a:r>
          </a:p>
          <a:p>
            <a:r>
              <a:rPr lang="en-US" dirty="0"/>
              <a:t>Open connect infrastructure</a:t>
            </a:r>
          </a:p>
          <a:p>
            <a:r>
              <a:rPr lang="en-US" dirty="0"/>
              <a:t>Components of a Netflix server name</a:t>
            </a:r>
          </a:p>
          <a:p>
            <a:r>
              <a:rPr lang="en-US" dirty="0"/>
              <a:t>Data collection and validation</a:t>
            </a:r>
          </a:p>
          <a:p>
            <a:r>
              <a:rPr lang="en-US" dirty="0"/>
              <a:t>Netflix servers in USA and Brazil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Final thoughts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26ADD-A191-4A5D-BE32-7C9F1C65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4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E2BE1-6D05-4D4A-A0FB-6707963E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/>
              <a:t>Internet Today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DBE0-84B3-4B48-85C2-568007720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 dirty="0"/>
              <a:t>Topological flattening</a:t>
            </a:r>
          </a:p>
          <a:p>
            <a:r>
              <a:rPr lang="en-US" dirty="0"/>
              <a:t>Consumption of online content</a:t>
            </a:r>
          </a:p>
          <a:p>
            <a:r>
              <a:rPr lang="en-US" dirty="0"/>
              <a:t>Local generation and exchange of traffic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BF8AF-C540-4349-8216-B511E78D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3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697E2-FC42-4628-98FF-79BBC73F2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IXP and ISP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23C4-A20C-44B5-96AF-E8107554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ISP: </a:t>
            </a:r>
          </a:p>
          <a:p>
            <a:pPr marL="0" indent="0">
              <a:buNone/>
            </a:pPr>
            <a:r>
              <a:rPr lang="en-US" dirty="0"/>
              <a:t>An </a:t>
            </a:r>
            <a:r>
              <a:rPr lang="en-US" b="1" dirty="0"/>
              <a:t>Internet service provider</a:t>
            </a:r>
            <a:r>
              <a:rPr lang="en-US" dirty="0"/>
              <a:t> (</a:t>
            </a:r>
            <a:r>
              <a:rPr lang="en-US" b="1" dirty="0"/>
              <a:t>ISP</a:t>
            </a:r>
            <a:r>
              <a:rPr lang="en-US" dirty="0"/>
              <a:t>) is an organization that provides services for accessing, using, or participating in the Internet.</a:t>
            </a:r>
          </a:p>
          <a:p>
            <a:r>
              <a:rPr lang="en-US"/>
              <a:t>IXP:</a:t>
            </a:r>
          </a:p>
          <a:p>
            <a:pPr marL="0" indent="0">
              <a:buNone/>
            </a:pPr>
            <a:r>
              <a:rPr lang="en-US" dirty="0"/>
              <a:t>An </a:t>
            </a:r>
            <a:r>
              <a:rPr lang="en-US" b="1" dirty="0"/>
              <a:t>Internet exchange point</a:t>
            </a:r>
            <a:r>
              <a:rPr lang="en-US" dirty="0"/>
              <a:t> (</a:t>
            </a:r>
            <a:r>
              <a:rPr lang="en-US" b="1" dirty="0"/>
              <a:t>IX</a:t>
            </a:r>
            <a:r>
              <a:rPr lang="en-US" dirty="0"/>
              <a:t> or </a:t>
            </a:r>
            <a:r>
              <a:rPr lang="en-US" b="1" dirty="0"/>
              <a:t>IXP</a:t>
            </a:r>
            <a:r>
              <a:rPr lang="en-US" dirty="0"/>
              <a:t>) is the physical infrastructure through which Internet service providers (ISPs) and content delivery networks (CDNs) exchange Internet traffic between their networks.</a:t>
            </a:r>
          </a:p>
          <a:p>
            <a:pPr marL="0" indent="0">
              <a:buNone/>
            </a:pPr>
            <a:r>
              <a:rPr lang="en-US" dirty="0"/>
              <a:t>IXPs reduce the portion of an ISP's traffic that must be delivered via their upstream transit providers, thereby reducing the average per-bit delivery cost of their service.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372B3-95B2-4B3E-A705-01F30F340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6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3048F-D5A1-4852-8CEC-E3323F1A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Open Connect Infrastructure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31E1B-90E9-4D09-A14A-B80B2B8A7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Netflix’s own content delivery infrastructure</a:t>
            </a:r>
          </a:p>
          <a:p>
            <a:r>
              <a:rPr lang="en-US"/>
              <a:t>Uses AWS for most of its computing</a:t>
            </a:r>
          </a:p>
          <a:p>
            <a:r>
              <a:rPr lang="en-US"/>
              <a:t>When a client requests a video file, the main application logic directly instructs the client which content servers to use. </a:t>
            </a:r>
          </a:p>
          <a:p>
            <a:r>
              <a:rPr lang="en-US"/>
              <a:t>The server names include information on the physical cache location and a cache number. </a:t>
            </a:r>
          </a:p>
          <a:p>
            <a:r>
              <a:rPr lang="en-US"/>
              <a:t>each name only resolves to a single and always the same IP address, independent of the client’s location. 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EE889-4417-47D8-94D2-75306AAC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C652-BC10-4FAD-B4A3-F6E6DD54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3400"/>
              <a:t>Components of a Netflix Server name</a:t>
            </a:r>
          </a:p>
        </p:txBody>
      </p:sp>
      <p:pic>
        <p:nvPicPr>
          <p:cNvPr id="6" name="Content Placeholder 5" descr="A picture containing bird&#10;&#10;Description automatically generated">
            <a:extLst>
              <a:ext uri="{FF2B5EF4-FFF2-40B4-BE49-F238E27FC236}">
                <a16:creationId xmlns:a16="http://schemas.microsoft.com/office/drawing/2014/main" id="{2FF69C6A-A325-4660-92F3-FA18D502E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67" y="2128494"/>
            <a:ext cx="6517065" cy="22809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720DA-8607-4D9E-B071-E4C646F3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5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D2CE0-E9CC-4B88-8E5F-E977EEBF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EE1A0-1157-4F2B-9C55-4A7A415A8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 dirty="0"/>
              <a:t>Crawling DNS Fed with airport codes and ISPs</a:t>
            </a:r>
          </a:p>
          <a:p>
            <a:r>
              <a:rPr lang="en-US" dirty="0"/>
              <a:t>Airport code collected through Wikipedia</a:t>
            </a:r>
          </a:p>
          <a:p>
            <a:r>
              <a:rPr lang="en-US" dirty="0"/>
              <a:t>ISP list collected from Wikipedia, CT (Certificate Transparency) and </a:t>
            </a:r>
            <a:r>
              <a:rPr lang="en-US" dirty="0" err="1"/>
              <a:t>PeeringDB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B14C-C814-4348-8E6E-E4174393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D4923-8E40-4701-9A1B-74CD82AD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Data Validation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ED86-DDDA-48A9-94CE-3F5C4630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 dirty="0"/>
              <a:t>Data is consistent with the map by Netflix of their open connect infrastructure</a:t>
            </a:r>
          </a:p>
          <a:p>
            <a:r>
              <a:rPr lang="en-US" dirty="0"/>
              <a:t>Measurements were done more than a year after Netflix’s data release and show significant additions and developments in certain regions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552F3-594B-4824-9390-9DC210BF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97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9902-DA07-49DD-926F-D45A0E93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/>
              <a:t>Data Overview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5400279-F422-4B6E-A223-8A4D40A6E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US"/>
              <a:t>Netflix strategically chooses the IXPs where it is present, which are relatively few in numbers. </a:t>
            </a:r>
          </a:p>
          <a:p>
            <a:r>
              <a:rPr lang="en-US"/>
              <a:t>For ISP deployments, servers are scattered across hundreds of ISPs </a:t>
            </a: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4FA9C43-7D87-4E9B-AE02-47B5FBF32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67" y="1403469"/>
            <a:ext cx="6517065" cy="37310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0816A-CAB2-4F87-B7B2-19A913FC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52C2E-5B68-442A-AD77-05B8D971D34C}"/>
              </a:ext>
            </a:extLst>
          </p:cNvPr>
          <p:cNvSpPr txBox="1"/>
          <p:nvPr/>
        </p:nvSpPr>
        <p:spPr>
          <a:xfrm>
            <a:off x="5762626" y="4624387"/>
            <a:ext cx="48339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70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D3F2-F5A5-4DDF-9528-5C926AD7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3400"/>
              <a:t>Netflix server locations</a:t>
            </a:r>
            <a:br>
              <a:rPr lang="en-US" sz="3400"/>
            </a:br>
            <a:endParaRPr lang="en-US" sz="3400"/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08941582-71A4-43B5-948D-53D6B5800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39" y="1090613"/>
            <a:ext cx="7019394" cy="49101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03243-CAE0-49F9-BFFF-6AB24150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76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4540E-302B-4C45-A74D-12C8C395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Netflix Servers in USA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1D92-8879-4942-879C-78A85C0A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3,246 IXP and 1,007 ISP servers </a:t>
            </a:r>
          </a:p>
          <a:p>
            <a:r>
              <a:rPr lang="en-US"/>
              <a:t>24 IXP and 205 ISP locations </a:t>
            </a:r>
          </a:p>
          <a:p>
            <a:r>
              <a:rPr lang="en-US"/>
              <a:t>IXP deployment covers the major metropolitan areas. Netflix is present at 9</a:t>
            </a:r>
            <a:br>
              <a:rPr lang="en-US"/>
            </a:br>
            <a:r>
              <a:rPr lang="en-US"/>
              <a:t>of the 10 largest IXPs in the USA, and 15 of the largest 20. </a:t>
            </a:r>
          </a:p>
          <a:p>
            <a:r>
              <a:rPr lang="en-US"/>
              <a:t>Netflix’s deployment at IXPs typically involves a significant number of servers, whereas deployment inside ISPs is more fine-grained.</a:t>
            </a:r>
          </a:p>
          <a:p>
            <a:r>
              <a:rPr lang="en-US"/>
              <a:t>The largest IXP deployment consists of 360 servers, the largest ISP deployment consists of 14 servers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0C53-CADF-4555-8B18-E07EFD82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4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4540E-302B-4C45-A74D-12C8C395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Netflix Servers in USA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1D92-8879-4942-879C-78A85C0A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No Netflix deployment inside four major ISPs (AT&amp;T, Comcast, Time Warner Cable and Verizon), these ISPs publicly refused to deploy Netflix servers. </a:t>
            </a:r>
          </a:p>
          <a:p>
            <a:r>
              <a:rPr lang="en-US"/>
              <a:t>ISPs which do not deploy servers provide similar performance results as those which have Netflix servers deployed. </a:t>
            </a:r>
          </a:p>
          <a:p>
            <a:r>
              <a:rPr lang="en-US"/>
              <a:t>USA has an IXP ecosystem mature enough, so that the available IXPs are enough for Netflix to rely primarily on IXPs to reach its large customer base.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0C53-CADF-4555-8B18-E07EFD82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4540E-302B-4C45-A74D-12C8C395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Netflix Servers in Brazil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1D92-8879-4942-879C-78A85C0A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 sz="1700"/>
              <a:t>The deployment consists of 901 servers, 713 servers inside ISPs and 188 servers at IXPs.</a:t>
            </a:r>
          </a:p>
          <a:p>
            <a:r>
              <a:rPr lang="en-US" sz="1700"/>
              <a:t>ISP servers are deployed inside 187 ISPs, covering 58 locations across the vast Brazilian geography, but mostly along the Eastern coastal regions where most people live. </a:t>
            </a:r>
          </a:p>
          <a:p>
            <a:r>
              <a:rPr lang="en-US" sz="1700"/>
              <a:t>IXP servers are only deployed at 3 locations on the South East Coast</a:t>
            </a:r>
          </a:p>
          <a:p>
            <a:r>
              <a:rPr lang="en-US" sz="1700"/>
              <a:t>The vast majority of IXPs in Brazil have a small number of peers, and more importantly lack content providers, and private companies except in the South East </a:t>
            </a:r>
          </a:p>
          <a:p>
            <a:r>
              <a:rPr lang="en-US" sz="1700"/>
              <a:t>Edge Internet infrastructure must be strong enough for service providers to operate purely from these IXPs. </a:t>
            </a:r>
            <a:br>
              <a:rPr lang="en-US" sz="1700"/>
            </a:br>
            <a:br>
              <a:rPr lang="en-US" sz="1700"/>
            </a:br>
            <a:endParaRPr lang="en-US" sz="1700"/>
          </a:p>
          <a:p>
            <a:endParaRPr lang="en-US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10C53-CADF-4555-8B18-E07EFD82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07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0A011-E63F-40DE-9993-F1D37A4E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AE103-4714-4A2E-B47D-F45624F7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Netflix’s pre-fetching approach to populate content on its servers is key to reduce the amount of transit traffic</a:t>
            </a:r>
          </a:p>
          <a:p>
            <a:r>
              <a:rPr lang="en-US"/>
              <a:t>Netflix does not operate a backbone and a single datacenter</a:t>
            </a:r>
          </a:p>
          <a:p>
            <a:r>
              <a:rPr lang="en-US"/>
              <a:t>Netflix serves its traffic from servers deployed in housing locations at or in close to IXP </a:t>
            </a:r>
          </a:p>
          <a:p>
            <a:r>
              <a:rPr lang="en-US"/>
              <a:t>These locations allow Netflix to operate without its own datacenters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5CA67-3A07-4E76-8705-1686513E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9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1C6CB-5768-46C3-846B-F5ADCEA9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en-US" dirty="0"/>
              <a:t>Final Thoughts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AB9D-BBAF-43B4-93BC-DF5A032E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>
            <a:normAutofit/>
          </a:bodyPr>
          <a:lstStyle/>
          <a:p>
            <a:r>
              <a:rPr lang="en-US"/>
              <a:t>Deploying servers in IXPs is more cost efficient for Netflix due to economies of scale and a simpler contractual situation with fewer parties involved compared to ISP deployment. </a:t>
            </a:r>
          </a:p>
          <a:p>
            <a:r>
              <a:rPr lang="en-US"/>
              <a:t>Brazil has the second largest Netflix server deployment, but has much lower bandwidth figures compared to the other top Netflix markets </a:t>
            </a:r>
          </a:p>
          <a:p>
            <a:r>
              <a:rPr lang="en-US"/>
              <a:t>No analysis on number of servers deployed in least popular regions like south-east Asia.</a:t>
            </a:r>
          </a:p>
          <a:p>
            <a:r>
              <a:rPr lang="en-US"/>
              <a:t>“This suggests that deploying Netflix servers inside an ISP network does not automatically imply better performance, at least according to Netflix’s own ISP Speed Index.” – I think this comment is vague </a:t>
            </a:r>
          </a:p>
          <a:p>
            <a:r>
              <a:rPr lang="en-US"/>
              <a:t>Netflix has deployed servers inside Verizon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E876-FB6F-4286-B981-89D6A425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453386"/>
            <a:ext cx="1596292" cy="4046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83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lose up of a blackboard&#10;&#10;Description automatically generated">
            <a:extLst>
              <a:ext uri="{FF2B5EF4-FFF2-40B4-BE49-F238E27FC236}">
                <a16:creationId xmlns:a16="http://schemas.microsoft.com/office/drawing/2014/main" id="{F2ACDE70-D324-4591-83FF-A31FC21F3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82290" y="480515"/>
            <a:ext cx="8827418" cy="5892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381BF-FDA7-4C49-8402-3ECE7819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6" y="6330118"/>
            <a:ext cx="1596292" cy="404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B89B4DD-6EE3-456E-86A2-4A5B5A2EAE12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4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808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Franklin Gothic Book</vt:lpstr>
      <vt:lpstr>Crop</vt:lpstr>
      <vt:lpstr>Open Connect Everywhere: A Glimpse at the Internet Ecosystem through the Lens of the Netflix CDN  </vt:lpstr>
      <vt:lpstr>Overview</vt:lpstr>
      <vt:lpstr>Internet Today</vt:lpstr>
      <vt:lpstr>IXP and ISP</vt:lpstr>
      <vt:lpstr>Open Connect Infrastructure</vt:lpstr>
      <vt:lpstr>Components of a Netflix Server name</vt:lpstr>
      <vt:lpstr>Data Collection</vt:lpstr>
      <vt:lpstr>Data Validation</vt:lpstr>
      <vt:lpstr>Data Overview</vt:lpstr>
      <vt:lpstr>Netflix server locations </vt:lpstr>
      <vt:lpstr>Netflix Servers in USA</vt:lpstr>
      <vt:lpstr>Netflix Servers in USA</vt:lpstr>
      <vt:lpstr>Netflix Servers in Brazil</vt:lpstr>
      <vt:lpstr>Discussion</vt:lpstr>
      <vt:lpstr>Final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Connect Everywhere: A Glimpse at the Internet Ecosystem through the Lens of the Netflix CDN  </dc:title>
  <dc:creator>debolina halder</dc:creator>
  <cp:lastModifiedBy>debolina halder</cp:lastModifiedBy>
  <cp:revision>2</cp:revision>
  <dcterms:created xsi:type="dcterms:W3CDTF">2020-03-10T19:29:59Z</dcterms:created>
  <dcterms:modified xsi:type="dcterms:W3CDTF">2020-03-10T19:35:04Z</dcterms:modified>
</cp:coreProperties>
</file>